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59" r:id="rId6"/>
    <p:sldId id="267" r:id="rId7"/>
    <p:sldId id="262" r:id="rId8"/>
    <p:sldId id="263" r:id="rId9"/>
    <p:sldId id="265" r:id="rId10"/>
    <p:sldId id="264" r:id="rId11"/>
    <p:sldId id="266" r:id="rId12"/>
    <p:sldId id="268" r:id="rId1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2" d="100"/>
          <a:sy n="102" d="100"/>
        </p:scale>
        <p:origin x="826" y="10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85764"/>
            <a:ext cx="2743200" cy="871538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831058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4019827"/>
            <a:ext cx="155448" cy="11658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121589"/>
            <a:ext cx="2209800" cy="163449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4767263"/>
            <a:ext cx="609600" cy="273844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4664869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cover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685801"/>
            <a:ext cx="2057400" cy="3908822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685801"/>
            <a:ext cx="6019800" cy="3908822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cover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5358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5358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151806"/>
            <a:ext cx="9180548" cy="486918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cover dir="u"/>
  </p:transition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35458" y="669218"/>
            <a:ext cx="7885014" cy="16145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Система контроля версий и шаблонов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2737444"/>
            <a:ext cx="3559204" cy="2714626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ru-RU" dirty="0"/>
              <a:t>Работали над проектом:</a:t>
            </a:r>
          </a:p>
          <a:p>
            <a:pPr algn="l">
              <a:buFont typeface="Arial" pitchFamily="34" charset="0"/>
              <a:buChar char="•"/>
            </a:pPr>
            <a:r>
              <a:rPr lang="ru-RU" dirty="0"/>
              <a:t> Шубина Виктория</a:t>
            </a:r>
            <a:r>
              <a:rPr lang="en-US" dirty="0"/>
              <a:t> (team lead)</a:t>
            </a:r>
            <a:endParaRPr lang="ru-RU" dirty="0"/>
          </a:p>
          <a:p>
            <a:pPr algn="l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Переверзев Максим</a:t>
            </a:r>
            <a:r>
              <a:rPr lang="en-US" dirty="0"/>
              <a:t> (backend)</a:t>
            </a:r>
            <a:endParaRPr lang="ru-RU" dirty="0"/>
          </a:p>
          <a:p>
            <a:pPr algn="l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Фонвизин Игорь</a:t>
            </a:r>
            <a:r>
              <a:rPr lang="en-US" dirty="0"/>
              <a:t> (frontend)</a:t>
            </a:r>
            <a:endParaRPr lang="ru-RU" dirty="0"/>
          </a:p>
          <a:p>
            <a:pPr algn="l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Лазутин Александр</a:t>
            </a:r>
            <a:r>
              <a:rPr lang="en-US" dirty="0"/>
              <a:t> (QA)</a:t>
            </a:r>
            <a:endParaRPr lang="ru-RU" dirty="0"/>
          </a:p>
          <a:p>
            <a:pPr algn="l">
              <a:buFont typeface="Arial" pitchFamily="34" charset="0"/>
              <a:buChar char="•"/>
            </a:pPr>
            <a:r>
              <a:rPr lang="ru-RU" dirty="0"/>
              <a:t> Лавренов Константин</a:t>
            </a:r>
            <a:r>
              <a:rPr lang="en-US" dirty="0"/>
              <a:t> (full-stack)</a:t>
            </a:r>
            <a:endParaRPr lang="ru-RU" dirty="0"/>
          </a:p>
          <a:p>
            <a:pPr algn="l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Харин Илья</a:t>
            </a:r>
            <a:r>
              <a:rPr lang="en-US" dirty="0"/>
              <a:t> (frontend)</a:t>
            </a:r>
          </a:p>
          <a:p>
            <a:pPr algn="l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Смирнов Кирилл</a:t>
            </a:r>
            <a:r>
              <a:rPr lang="en-US" dirty="0"/>
              <a:t> (QA)</a:t>
            </a:r>
            <a:endParaRPr lang="ru-RU" dirty="0"/>
          </a:p>
          <a:p>
            <a:pPr algn="l"/>
            <a:endParaRPr lang="ru-RU" dirty="0"/>
          </a:p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3845171" y="2737444"/>
            <a:ext cx="2500298" cy="2714626"/>
          </a:xfrm>
          <a:prstGeom prst="rect">
            <a:avLst/>
          </a:prstGeom>
        </p:spPr>
        <p:txBody>
          <a:bodyPr vert="horz" lIns="0" rIns="18288">
            <a:normAutofit/>
          </a:bodyPr>
          <a:lstStyle/>
          <a:p>
            <a:pPr marL="0" marR="4572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ru-RU" sz="1600" dirty="0"/>
              <a:t>Место обучения:</a:t>
            </a:r>
          </a:p>
          <a:p>
            <a:pPr marL="0" marR="4572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ru-RU" sz="1600" dirty="0"/>
              <a:t>Колледж «Царицыно»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4572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6392182" y="2735352"/>
            <a:ext cx="2500298" cy="2714626"/>
          </a:xfrm>
          <a:prstGeom prst="rect">
            <a:avLst/>
          </a:prstGeom>
        </p:spPr>
        <p:txBody>
          <a:bodyPr vert="horz" lIns="0" rIns="18288">
            <a:normAutofit/>
          </a:bodyPr>
          <a:lstStyle/>
          <a:p>
            <a:pPr marL="0" marR="4572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ru-RU" sz="1600" dirty="0"/>
              <a:t>Срок выполнения:</a:t>
            </a:r>
          </a:p>
          <a:p>
            <a:pPr marL="0" marR="4572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20.11.2025-24.12.2025</a:t>
            </a:r>
          </a:p>
          <a:p>
            <a:pPr marL="0" marR="4572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cover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проекта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1684164"/>
            <a:ext cx="4757742" cy="3191842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ru-RU" sz="2500" dirty="0"/>
              <a:t>Технологический стек</a:t>
            </a:r>
          </a:p>
          <a:p>
            <a:pPr>
              <a:buNone/>
            </a:pPr>
            <a:r>
              <a:rPr lang="en-US" sz="2500" dirty="0"/>
              <a:t>Backend</a:t>
            </a:r>
          </a:p>
          <a:p>
            <a:r>
              <a:rPr lang="en-US" sz="2500" dirty="0"/>
              <a:t>Node.js + </a:t>
            </a:r>
            <a:r>
              <a:rPr lang="en-US" sz="2500" dirty="0" err="1"/>
              <a:t>TypeScript</a:t>
            </a:r>
            <a:endParaRPr lang="en-US" sz="2500" dirty="0"/>
          </a:p>
          <a:p>
            <a:r>
              <a:rPr lang="en-US" sz="2500" dirty="0"/>
              <a:t>Express.js — </a:t>
            </a:r>
            <a:r>
              <a:rPr lang="ru-RU" sz="2500" dirty="0" err="1"/>
              <a:t>веб-фреймворк</a:t>
            </a:r>
            <a:endParaRPr lang="ru-RU" sz="2500" dirty="0"/>
          </a:p>
          <a:p>
            <a:r>
              <a:rPr lang="en-US" sz="2500" dirty="0" err="1"/>
              <a:t>MongoDB</a:t>
            </a:r>
            <a:r>
              <a:rPr lang="en-US" sz="2500" dirty="0"/>
              <a:t> — </a:t>
            </a:r>
            <a:r>
              <a:rPr lang="ru-RU" sz="2500" dirty="0"/>
              <a:t>база данных для хранения шаблонов</a:t>
            </a:r>
          </a:p>
          <a:p>
            <a:r>
              <a:rPr lang="en-US" sz="2500" dirty="0" err="1"/>
              <a:t>Elasticsearch</a:t>
            </a:r>
            <a:r>
              <a:rPr lang="en-US" sz="2500" dirty="0"/>
              <a:t> — </a:t>
            </a:r>
            <a:r>
              <a:rPr lang="ru-RU" sz="2500" dirty="0"/>
              <a:t>полнотекстовый поиск</a:t>
            </a:r>
          </a:p>
          <a:p>
            <a:r>
              <a:rPr lang="en-US" sz="2500" dirty="0" err="1"/>
              <a:t>Redis</a:t>
            </a:r>
            <a:r>
              <a:rPr lang="en-US" sz="2500" dirty="0"/>
              <a:t> — </a:t>
            </a:r>
            <a:r>
              <a:rPr lang="ru-RU" sz="2500" dirty="0"/>
              <a:t>кэширование</a:t>
            </a:r>
          </a:p>
          <a:p>
            <a:r>
              <a:rPr lang="en-US" sz="2500" dirty="0"/>
              <a:t>Swagger — </a:t>
            </a:r>
            <a:r>
              <a:rPr lang="ru-RU" sz="2500" dirty="0"/>
              <a:t>документация </a:t>
            </a:r>
            <a:r>
              <a:rPr lang="en-US" sz="2500" dirty="0"/>
              <a:t>API</a:t>
            </a:r>
          </a:p>
          <a:p>
            <a:pPr>
              <a:buNone/>
            </a:pPr>
            <a:r>
              <a:rPr lang="en-US" sz="2500" dirty="0"/>
              <a:t>Frontend</a:t>
            </a:r>
          </a:p>
          <a:p>
            <a:r>
              <a:rPr lang="en-US" sz="2500" dirty="0"/>
              <a:t>React + </a:t>
            </a:r>
            <a:r>
              <a:rPr lang="en-US" sz="2500" dirty="0" err="1"/>
              <a:t>TypeScript</a:t>
            </a:r>
            <a:endParaRPr lang="en-US" sz="2500" dirty="0"/>
          </a:p>
          <a:p>
            <a:r>
              <a:rPr lang="en-US" sz="2500" dirty="0"/>
              <a:t>Material-UI — </a:t>
            </a:r>
            <a:r>
              <a:rPr lang="ru-RU" sz="2500" dirty="0"/>
              <a:t>компоненты интерфейса</a:t>
            </a:r>
          </a:p>
          <a:p>
            <a:r>
              <a:rPr lang="en-US" sz="2500" dirty="0"/>
              <a:t>React Query — </a:t>
            </a:r>
            <a:r>
              <a:rPr lang="ru-RU" sz="2500" dirty="0"/>
              <a:t>управление состоянием и запросами</a:t>
            </a:r>
          </a:p>
          <a:p>
            <a:r>
              <a:rPr lang="en-US" sz="2500" dirty="0" err="1"/>
              <a:t>Axios</a:t>
            </a:r>
            <a:r>
              <a:rPr lang="en-US" sz="2500" dirty="0"/>
              <a:t> — HTTP-</a:t>
            </a:r>
            <a:r>
              <a:rPr lang="ru-RU" sz="2500" dirty="0"/>
              <a:t>клиент</a:t>
            </a:r>
          </a:p>
          <a:p>
            <a:pPr>
              <a:buNone/>
            </a:pPr>
            <a:r>
              <a:rPr lang="ru-RU" sz="2500" dirty="0"/>
              <a:t>Инфраструктура</a:t>
            </a:r>
          </a:p>
          <a:p>
            <a:r>
              <a:rPr lang="en-US" sz="2500" dirty="0" err="1"/>
              <a:t>Docker</a:t>
            </a:r>
            <a:r>
              <a:rPr lang="en-US" sz="2500" dirty="0"/>
              <a:t> + </a:t>
            </a:r>
            <a:r>
              <a:rPr lang="en-US" sz="2500" dirty="0" err="1"/>
              <a:t>Docker</a:t>
            </a:r>
            <a:r>
              <a:rPr lang="en-US" sz="2500" dirty="0"/>
              <a:t> Compose — </a:t>
            </a:r>
            <a:r>
              <a:rPr lang="ru-RU" sz="2500" dirty="0"/>
              <a:t>контейнеризация и </a:t>
            </a:r>
            <a:r>
              <a:rPr lang="ru-RU" sz="2500" dirty="0" err="1"/>
              <a:t>оркестрация</a:t>
            </a:r>
            <a:endParaRPr lang="ru-RU" sz="2500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4643438" y="1684164"/>
            <a:ext cx="4500562" cy="3191842"/>
          </a:xfrm>
          <a:prstGeom prst="rect">
            <a:avLst/>
          </a:prstGeom>
        </p:spPr>
        <p:txBody>
          <a:bodyPr vert="horz">
            <a:normAutofit fontScale="47500" lnSpcReduction="20000"/>
          </a:bodyPr>
          <a:lstStyle/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ru-RU" sz="2500" dirty="0"/>
              <a:t>Основная структура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endParaRPr lang="ru-RU" sz="2500" dirty="0"/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en-US" sz="2500" dirty="0"/>
              <a:t>templates-versions-system/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en-US" sz="2500" dirty="0"/>
              <a:t>├── backend/          # Backend </a:t>
            </a:r>
            <a:r>
              <a:rPr lang="ru-RU" sz="2500" dirty="0"/>
              <a:t>приложение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ru-RU" sz="2500" dirty="0"/>
              <a:t>│   ├── </a:t>
            </a:r>
            <a:r>
              <a:rPr lang="en-US" sz="2500" dirty="0" err="1"/>
              <a:t>src</a:t>
            </a:r>
            <a:r>
              <a:rPr lang="en-US" sz="2500" dirty="0"/>
              <a:t>/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en-US" sz="2500" dirty="0"/>
              <a:t>│   │   ├── controllers/   # </a:t>
            </a:r>
            <a:r>
              <a:rPr lang="ru-RU" sz="2500" dirty="0"/>
              <a:t>Контроллеры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ru-RU" sz="2500" dirty="0"/>
              <a:t>│   │   ├── </a:t>
            </a:r>
            <a:r>
              <a:rPr lang="en-US" sz="2500" dirty="0"/>
              <a:t>models/        # </a:t>
            </a:r>
            <a:r>
              <a:rPr lang="ru-RU" sz="2500" dirty="0"/>
              <a:t>Модели данных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ru-RU" sz="2500" dirty="0"/>
              <a:t>│   │   ├── </a:t>
            </a:r>
            <a:r>
              <a:rPr lang="en-US" sz="2500" dirty="0"/>
              <a:t>routes/        # </a:t>
            </a:r>
            <a:r>
              <a:rPr lang="ru-RU" sz="2500" dirty="0"/>
              <a:t>Маршруты </a:t>
            </a:r>
            <a:r>
              <a:rPr lang="en-US" sz="2500" dirty="0"/>
              <a:t>API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en-US" sz="2500" dirty="0"/>
              <a:t>│   │   ├── services/      # </a:t>
            </a:r>
            <a:r>
              <a:rPr lang="ru-RU" sz="2500" dirty="0"/>
              <a:t>Бизнес-логика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ru-RU" sz="2500" dirty="0"/>
              <a:t>│   │   └── </a:t>
            </a:r>
            <a:r>
              <a:rPr lang="en-US" sz="2500" dirty="0"/>
              <a:t>swagger/       # </a:t>
            </a:r>
            <a:r>
              <a:rPr lang="ru-RU" sz="2500" dirty="0"/>
              <a:t>Документация </a:t>
            </a:r>
            <a:r>
              <a:rPr lang="en-US" sz="2500" dirty="0"/>
              <a:t>API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en-US" sz="2500" dirty="0"/>
              <a:t>│   └── uploads/           # </a:t>
            </a:r>
            <a:r>
              <a:rPr lang="ru-RU" sz="2500" dirty="0"/>
              <a:t>Загруженные файлы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ru-RU" sz="2500" dirty="0"/>
              <a:t>├── </a:t>
            </a:r>
            <a:r>
              <a:rPr lang="en-US" sz="2500" dirty="0"/>
              <a:t>frontend/         # Frontend </a:t>
            </a:r>
            <a:r>
              <a:rPr lang="ru-RU" sz="2500" dirty="0"/>
              <a:t>приложение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ru-RU" sz="2500" dirty="0"/>
              <a:t>│   └── </a:t>
            </a:r>
            <a:r>
              <a:rPr lang="en-US" sz="2500" dirty="0" err="1"/>
              <a:t>src</a:t>
            </a:r>
            <a:r>
              <a:rPr lang="en-US" sz="2500" dirty="0"/>
              <a:t>/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en-US" sz="2500" dirty="0"/>
              <a:t>│       ├── components/    # React </a:t>
            </a:r>
            <a:r>
              <a:rPr lang="ru-RU" sz="2500" dirty="0"/>
              <a:t>компоненты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ru-RU" sz="2500" dirty="0"/>
              <a:t>│       └── </a:t>
            </a:r>
            <a:r>
              <a:rPr lang="en-US" sz="2500" dirty="0"/>
              <a:t>services/      # API </a:t>
            </a:r>
            <a:r>
              <a:rPr lang="ru-RU" sz="2500" dirty="0"/>
              <a:t>сервисы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lang="ru-RU" sz="2500" dirty="0"/>
              <a:t>└── </a:t>
            </a:r>
            <a:r>
              <a:rPr lang="en-US" sz="2500" dirty="0"/>
              <a:t>docker-compose.yml     # </a:t>
            </a:r>
            <a:r>
              <a:rPr lang="ru-RU" sz="2500" dirty="0"/>
              <a:t>Конфигурация</a:t>
            </a:r>
            <a:r>
              <a:rPr lang="en-US" sz="2500" dirty="0"/>
              <a:t> </a:t>
            </a:r>
            <a:r>
              <a:rPr lang="en-US" sz="2500" dirty="0" err="1"/>
              <a:t>Docker</a:t>
            </a: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cover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</a:t>
            </a:r>
            <a:r>
              <a:rPr lang="en-US" dirty="0"/>
              <a:t>I: Backend</a:t>
            </a:r>
            <a:endParaRPr lang="ru-RU" dirty="0"/>
          </a:p>
        </p:txBody>
      </p:sp>
      <p:pic>
        <p:nvPicPr>
          <p:cNvPr id="9" name="Объект 8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2EA28A6D-32D7-8317-2B64-42DE7B9AB1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529" y="1439863"/>
            <a:ext cx="3575942" cy="3325812"/>
          </a:xfrm>
        </p:spPr>
      </p:pic>
      <p:pic>
        <p:nvPicPr>
          <p:cNvPr id="13" name="Объект 12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117158C2-AED8-0252-21E2-4F657ACBF1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53" y="1439863"/>
            <a:ext cx="3817494" cy="3325812"/>
          </a:xfrm>
        </p:spPr>
      </p:pic>
    </p:spTree>
  </p:cSld>
  <p:clrMapOvr>
    <a:masterClrMapping/>
  </p:clrMapOvr>
  <p:transition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anchor="b">
            <a:normAutofit/>
          </a:bodyPr>
          <a:lstStyle/>
          <a:p>
            <a:r>
              <a:rPr lang="ru-RU" dirty="0"/>
              <a:t>Этап </a:t>
            </a:r>
            <a:r>
              <a:rPr lang="en-US" dirty="0"/>
              <a:t>II: Frontend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7CF16E-CE0A-95DF-DB1B-0CCF6F24A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57200" y="2159107"/>
            <a:ext cx="4038600" cy="188804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6" name="Объект 5" descr="Изображение выглядит как текст, снимок экрана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4B660118-CFC9-A6DD-BD04-32C1EC2174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529" y="1439863"/>
            <a:ext cx="3575942" cy="3325812"/>
          </a:xfrm>
        </p:spPr>
      </p:pic>
    </p:spTree>
  </p:cSld>
  <p:clrMapOvr>
    <a:masterClrMapping/>
  </p:clrMapOvr>
  <p:transition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987574"/>
            <a:ext cx="8229600" cy="903495"/>
          </a:xfrm>
        </p:spPr>
        <p:txBody>
          <a:bodyPr>
            <a:noAutofit/>
          </a:bodyPr>
          <a:lstStyle/>
          <a:p>
            <a:r>
              <a:rPr lang="ru-RU" sz="4200" dirty="0"/>
              <a:t>Этап </a:t>
            </a:r>
            <a:r>
              <a:rPr lang="en-US" sz="4200" dirty="0"/>
              <a:t>III: </a:t>
            </a:r>
            <a:r>
              <a:rPr lang="ru-RU" sz="4200" dirty="0"/>
              <a:t>Тесты</a:t>
            </a:r>
            <a:r>
              <a:rPr lang="en-US" sz="4200" dirty="0"/>
              <a:t>,</a:t>
            </a:r>
            <a:r>
              <a:rPr lang="ru-RU" sz="4200" dirty="0"/>
              <a:t> документация</a:t>
            </a:r>
            <a:r>
              <a:rPr lang="en-US" sz="4200" dirty="0"/>
              <a:t>, </a:t>
            </a:r>
            <a:r>
              <a:rPr lang="ru-RU" sz="4200" dirty="0"/>
              <a:t>контейнеризация</a:t>
            </a:r>
          </a:p>
        </p:txBody>
      </p:sp>
      <p:pic>
        <p:nvPicPr>
          <p:cNvPr id="7" name="Объект 6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B600CE53-2090-2CB0-0465-0081A3E9C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91" y="1419622"/>
            <a:ext cx="3680107" cy="3422691"/>
          </a:xfrm>
        </p:spPr>
      </p:pic>
      <p:pic>
        <p:nvPicPr>
          <p:cNvPr id="12" name="Объект 6" descr="Изображение выглядит как текст, снимок экрана, число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E4607424-015E-05AE-61FD-D79CDF58F7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00568"/>
            <a:ext cx="4608364" cy="2515398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987574"/>
            <a:ext cx="8229600" cy="903495"/>
          </a:xfrm>
        </p:spPr>
        <p:txBody>
          <a:bodyPr>
            <a:noAutofit/>
          </a:bodyPr>
          <a:lstStyle/>
          <a:p>
            <a:r>
              <a:rPr lang="ru-RU" sz="4200" dirty="0"/>
              <a:t>Этап </a:t>
            </a:r>
            <a:r>
              <a:rPr lang="en-US" sz="4200" dirty="0"/>
              <a:t>III: </a:t>
            </a:r>
            <a:r>
              <a:rPr lang="ru-RU" sz="4200" dirty="0"/>
              <a:t>Тесты</a:t>
            </a:r>
            <a:r>
              <a:rPr lang="en-US" sz="4200" dirty="0"/>
              <a:t>,</a:t>
            </a:r>
            <a:r>
              <a:rPr lang="ru-RU" sz="4200" dirty="0"/>
              <a:t> документация</a:t>
            </a:r>
            <a:r>
              <a:rPr lang="en-US" sz="4200" dirty="0"/>
              <a:t>, </a:t>
            </a:r>
            <a:r>
              <a:rPr lang="ru-RU" sz="4200" dirty="0"/>
              <a:t>контейнеризация</a:t>
            </a:r>
          </a:p>
        </p:txBody>
      </p:sp>
      <p:pic>
        <p:nvPicPr>
          <p:cNvPr id="4" name="Рисунок 3" descr="Изображение выглядит как текст, снимок экран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67C003DA-6717-37EC-1FF2-5770907A6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96" y="2299369"/>
            <a:ext cx="8712008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50016"/>
      </p:ext>
    </p:extLst>
  </p:cSld>
  <p:clrMapOvr>
    <a:masterClrMapping/>
  </p:clrMapOvr>
  <p:transition>
    <p:cover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54900-5320-A880-151C-A1EA27B35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Реализованный функционал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FCF4D2-7C9B-8857-18E0-B3AB8C8BB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5646"/>
            <a:ext cx="8229600" cy="3291840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E6F2FF"/>
                </a:solidFill>
                <a:latin typeface="Montserrat" panose="00000500000000000000" pitchFamily="2" charset="-52"/>
              </a:rPr>
              <a:t>Создание, обновление, поиск шаблонов</a:t>
            </a:r>
            <a:endParaRPr lang="ru-RU" b="0" i="0" dirty="0">
              <a:solidFill>
                <a:srgbClr val="E6F2FF"/>
              </a:solidFill>
              <a:effectLst/>
              <a:latin typeface="Montserrat" panose="00000500000000000000" pitchFamily="2" charset="-5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E6F2FF"/>
                </a:solidFill>
                <a:effectLst/>
                <a:latin typeface="Montserrat" panose="00000500000000000000" pitchFamily="2" charset="-52"/>
              </a:rPr>
              <a:t>Фильтрация по категориям, отделам, тегам</a:t>
            </a:r>
            <a:endParaRPr lang="ru-RU" dirty="0">
              <a:solidFill>
                <a:srgbClr val="E6F2FF"/>
              </a:solidFill>
              <a:latin typeface="Montserrat" panose="00000500000000000000" pitchFamily="2" charset="-5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E6F2FF"/>
                </a:solidFill>
                <a:latin typeface="Montserrat" panose="00000500000000000000" pitchFamily="2" charset="-52"/>
              </a:rPr>
              <a:t>Расширенный поиск</a:t>
            </a:r>
            <a:endParaRPr lang="en-US" dirty="0">
              <a:solidFill>
                <a:srgbClr val="E6F2FF"/>
              </a:solidFill>
              <a:latin typeface="Montserrat" panose="00000500000000000000" pitchFamily="2" charset="-5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E6F2FF"/>
                </a:solidFill>
                <a:latin typeface="Montserrat" panose="00000500000000000000" pitchFamily="2" charset="-52"/>
              </a:rPr>
              <a:t>История версий</a:t>
            </a:r>
            <a:endParaRPr lang="ru-RU" b="0" i="0" dirty="0">
              <a:solidFill>
                <a:srgbClr val="E6F2FF"/>
              </a:solidFill>
              <a:effectLst/>
              <a:latin typeface="Montserrat" panose="00000500000000000000" pitchFamily="2" charset="-5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E6F2FF"/>
                </a:solidFill>
                <a:latin typeface="Montserrat" panose="00000500000000000000" pitchFamily="2" charset="-52"/>
              </a:rPr>
              <a:t>Сравнение версий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E6F2FF"/>
                </a:solidFill>
                <a:latin typeface="Montserrat" panose="00000500000000000000" pitchFamily="2" charset="-52"/>
              </a:rPr>
              <a:t>Восстановление версии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E6F2FF"/>
                </a:solidFill>
                <a:latin typeface="Montserrat" panose="00000500000000000000" pitchFamily="2" charset="-52"/>
              </a:rPr>
              <a:t>Статистика по шаблонам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dirty="0">
              <a:solidFill>
                <a:srgbClr val="E6F2FF"/>
              </a:solidFill>
              <a:latin typeface="Montserrat" panose="00000500000000000000" pitchFamily="2" charset="-5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E6F2FF"/>
              </a:solidFill>
              <a:effectLst/>
              <a:latin typeface="Montserrat" panose="00000500000000000000" pitchFamily="2" charset="-52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207009"/>
      </p:ext>
    </p:extLst>
  </p:cSld>
  <p:clrMapOvr>
    <a:masterClrMapping/>
  </p:clrMapOvr>
  <p:transition>
    <p:cover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F07F6-7418-7658-33D9-70F9BC073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anchor="b">
            <a:normAutofit/>
          </a:bodyPr>
          <a:lstStyle/>
          <a:p>
            <a:r>
              <a:rPr lang="ru-RU"/>
              <a:t>Расширенный поиск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08CC9C5-74C7-6689-6DE2-8AE8C7448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32387" y="1451610"/>
            <a:ext cx="7079226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71243487"/>
      </p:ext>
    </p:extLst>
  </p:cSld>
  <p:clrMapOvr>
    <a:masterClrMapping/>
  </p:clrMapOvr>
  <p:transition>
    <p:cover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A00FB-2214-ABAF-3D18-C9A7E7E8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anchor="b">
            <a:normAutofit/>
          </a:bodyPr>
          <a:lstStyle/>
          <a:p>
            <a:r>
              <a:rPr lang="ru-RU" dirty="0"/>
              <a:t>История версий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Значок на компьютере&#10;&#10;Автоматически созданное описание">
            <a:extLst>
              <a:ext uri="{FF2B5EF4-FFF2-40B4-BE49-F238E27FC236}">
                <a16:creationId xmlns:a16="http://schemas.microsoft.com/office/drawing/2014/main" id="{66F8AA47-4C54-4569-1BC1-D716A805D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823" y="1419622"/>
            <a:ext cx="6547545" cy="3568412"/>
          </a:xfrm>
          <a:noFill/>
        </p:spPr>
      </p:pic>
    </p:spTree>
    <p:extLst>
      <p:ext uri="{BB962C8B-B14F-4D97-AF65-F5344CB8AC3E}">
        <p14:creationId xmlns:p14="http://schemas.microsoft.com/office/powerpoint/2010/main" val="2046611000"/>
      </p:ext>
    </p:extLst>
  </p:cSld>
  <p:clrMapOvr>
    <a:masterClrMapping/>
  </p:clrMapOvr>
  <p:transition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7D8D6-2C5C-8809-58AD-981F181D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anchor="b">
            <a:normAutofit/>
          </a:bodyPr>
          <a:lstStyle/>
          <a:p>
            <a:r>
              <a:rPr lang="ru-RU" dirty="0"/>
              <a:t>Сравнение версий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90EA15B1-AAB1-0504-7A10-3252D3ED20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1" b="-3"/>
          <a:stretch>
            <a:fillRect/>
          </a:stretch>
        </p:blipFill>
        <p:spPr>
          <a:xfrm>
            <a:off x="4648200" y="1477868"/>
            <a:ext cx="4038600" cy="3326130"/>
          </a:xfrm>
          <a:noFill/>
        </p:spPr>
      </p:pic>
      <p:pic>
        <p:nvPicPr>
          <p:cNvPr id="7" name="Объект 6" descr="Изображение выглядит как текст, снимок экрана, программное обеспечение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420250F1-91A3-E9AC-9A2B-3AE39A84A1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12" y="1477868"/>
            <a:ext cx="4394088" cy="3326130"/>
          </a:xfrm>
        </p:spPr>
      </p:pic>
    </p:spTree>
    <p:extLst>
      <p:ext uri="{BB962C8B-B14F-4D97-AF65-F5344CB8AC3E}">
        <p14:creationId xmlns:p14="http://schemas.microsoft.com/office/powerpoint/2010/main" val="2883114895"/>
      </p:ext>
    </p:extLst>
  </p:cSld>
  <p:clrMapOvr>
    <a:masterClrMapping/>
  </p:clrMapOvr>
  <p:transition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F61EC-17AA-E4A4-E398-80CE0CFA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anchor="b">
            <a:normAutofit/>
          </a:bodyPr>
          <a:lstStyle/>
          <a:p>
            <a:r>
              <a:rPr lang="ru-RU" dirty="0"/>
              <a:t>Статистика</a:t>
            </a:r>
          </a:p>
        </p:txBody>
      </p:sp>
      <p:pic>
        <p:nvPicPr>
          <p:cNvPr id="5" name="Объект 4" descr="Изображение выглядит как текст, программное обеспечение, Значок на компьютере, веб-страница&#10;&#10;Автоматически созданное описание">
            <a:extLst>
              <a:ext uri="{FF2B5EF4-FFF2-40B4-BE49-F238E27FC236}">
                <a16:creationId xmlns:a16="http://schemas.microsoft.com/office/drawing/2014/main" id="{07657649-C5B9-4D50-FF99-1A771ED89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940" y="1451610"/>
            <a:ext cx="6415420" cy="3496404"/>
          </a:xfrm>
          <a:noFill/>
        </p:spPr>
      </p:pic>
    </p:spTree>
    <p:extLst>
      <p:ext uri="{BB962C8B-B14F-4D97-AF65-F5344CB8AC3E}">
        <p14:creationId xmlns:p14="http://schemas.microsoft.com/office/powerpoint/2010/main" val="1189219811"/>
      </p:ext>
    </p:extLst>
  </p:cSld>
  <p:clrMapOvr>
    <a:masterClrMapping/>
  </p:clrMapOvr>
  <p:transition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7B7052E-C35A-FAED-92DD-8F8AC233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3658"/>
            <a:ext cx="8229600" cy="133616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Проект выполнен в рамках стажировки в АО «ЦПТИ» во время учебной и производственной практики специалистами-стажерами</a:t>
            </a:r>
          </a:p>
        </p:txBody>
      </p:sp>
    </p:spTree>
    <p:extLst>
      <p:ext uri="{BB962C8B-B14F-4D97-AF65-F5344CB8AC3E}">
        <p14:creationId xmlns:p14="http://schemas.microsoft.com/office/powerpoint/2010/main" val="2369198611"/>
      </p:ext>
    </p:extLst>
  </p:cSld>
  <p:clrMapOvr>
    <a:masterClrMapping/>
  </p:clrMapOvr>
  <p:transition>
    <p:cover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122</TotalTime>
  <Words>291</Words>
  <Application>Microsoft Office PowerPoint</Application>
  <PresentationFormat>Экран (16:9)</PresentationFormat>
  <Paragraphs>67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Lucida Sans Unicode</vt:lpstr>
      <vt:lpstr>Montserrat</vt:lpstr>
      <vt:lpstr>Wingdings 2</vt:lpstr>
      <vt:lpstr>Поток</vt:lpstr>
      <vt:lpstr>Система контроля версий и шаблонов</vt:lpstr>
      <vt:lpstr>Архитектура проекта</vt:lpstr>
      <vt:lpstr>Этап I: Backend</vt:lpstr>
      <vt:lpstr>Этап II: Frontend</vt:lpstr>
      <vt:lpstr>Этап III: Тесты, документация, контейнеризация</vt:lpstr>
      <vt:lpstr>Этап III: Тесты, документация, контейнеризация</vt:lpstr>
      <vt:lpstr>Реализованный функционал</vt:lpstr>
      <vt:lpstr>Расширенный поиск</vt:lpstr>
      <vt:lpstr>История версий</vt:lpstr>
      <vt:lpstr>Сравнение версий</vt:lpstr>
      <vt:lpstr>Статистика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контроля версий и шаблонов</dc:title>
  <dc:creator>Наталья Курасова</dc:creator>
  <cp:lastModifiedBy>Виктория Сергеева</cp:lastModifiedBy>
  <cp:revision>16</cp:revision>
  <dcterms:created xsi:type="dcterms:W3CDTF">2025-12-22T14:18:34Z</dcterms:created>
  <dcterms:modified xsi:type="dcterms:W3CDTF">2025-12-24T12:24:59Z</dcterms:modified>
</cp:coreProperties>
</file>