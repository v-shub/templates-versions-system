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121888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1800" b="0" u="none" strike="noStrike">
                <a:solidFill>
                  <a:schemeClr val="dk1"/>
                </a:solidFill>
                <a:uFillTx/>
                <a:latin typeface="Calibri"/>
              </a:rPr>
              <a:t>Для перемещения страницы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217D1B0-F01C-4148-8817-CA850DE38B0E}" type="slidenum"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8BD1D2-974F-40F8-93E4-700C9CF6D7CD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A3C8C3-EE0F-4E8E-B52D-3F827588D0C2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2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EC658B-8DD5-43D0-8CDD-88FD41C025AF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E0146B-129E-4CCF-A18D-680C487F3D21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AFCE81-68B4-4292-AD05-B1DCB702B2CC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7B7D2F-6DAA-44F2-A503-9BA0B3B9FBEA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6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628FE2-7CDD-45B0-90BF-D20F8F955BFB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7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1C1244-66E4-4AC7-9C65-A3602A2B6162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8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EFDE32-4982-438C-9993-0F177547F5B7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9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6FE75F-C3EA-4BF2-A75C-6D9C2B6B32EC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10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7C34EC-02BA-4A6C-9148-85CFD9EEC929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11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CA93E8-B12B-4B41-9124-667A209CCC20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12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5B299C-456C-484A-BCE8-D5598BF0335A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13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9A75C4-74A8-42AA-B633-FC4E43A3BA4E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14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25FB4B-5640-4FE6-A8E3-045AC27EDF46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15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06FC4A-FFE1-423A-B30F-2E92D2A72289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16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0591B3-C94D-4C4C-BF83-90BD0B4988D2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17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F0D08E-17D6-49EA-8D74-23C2E62C8A1E}" type="slidenum">
              <a:rPr lang="en-US" sz="12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18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5720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64008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7BFFB7"/>
                </a:solidFill>
                <a:uFillTx/>
                <a:latin typeface="Montserrat"/>
                <a:ea typeface="Montserrat"/>
              </a:rPr>
              <a:t>Digital Ops</a:t>
            </a:r>
            <a:endParaRPr lang="ru-RU" sz="1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65176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83464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Innovation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84632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502920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2025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Практика студентов · Проектный институт Росатома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457200" y="102924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7BFFB7"/>
                </a:solidFill>
                <a:uFillTx/>
                <a:latin typeface="Montserrat"/>
                <a:ea typeface="Montserrat"/>
              </a:rPr>
              <a:t>8 </a:t>
            </a:r>
            <a:r>
              <a:rPr lang="en-US" sz="1200" b="0" u="none" strike="noStrike" dirty="0" err="1">
                <a:solidFill>
                  <a:srgbClr val="7BFFB7"/>
                </a:solidFill>
                <a:uFillTx/>
                <a:latin typeface="Montserrat"/>
                <a:ea typeface="Montserrat"/>
              </a:rPr>
              <a:t>недель</a:t>
            </a:r>
            <a:r>
              <a:rPr lang="en-US" sz="1200" b="0" u="none" strike="noStrike" dirty="0">
                <a:solidFill>
                  <a:srgbClr val="7BFFB7"/>
                </a:solidFill>
                <a:uFillTx/>
                <a:latin typeface="Montserrat"/>
                <a:ea typeface="Montserrat"/>
              </a:rPr>
              <a:t> · 3 </a:t>
            </a:r>
            <a:r>
              <a:rPr lang="en-US" sz="1200" b="0" u="none" strike="noStrike" dirty="0" err="1">
                <a:solidFill>
                  <a:srgbClr val="7BFFB7"/>
                </a:solidFill>
                <a:uFillTx/>
                <a:latin typeface="Montserrat"/>
                <a:ea typeface="Montserrat"/>
              </a:rPr>
              <a:t>команды</a:t>
            </a:r>
            <a:r>
              <a:rPr lang="en-US" sz="1200" b="0" u="none" strike="noStrike" dirty="0">
                <a:solidFill>
                  <a:srgbClr val="7BFFB7"/>
                </a:solidFill>
                <a:uFillTx/>
                <a:latin typeface="Montserrat"/>
                <a:ea typeface="Montserrat"/>
              </a:rPr>
              <a:t> · </a:t>
            </a:r>
            <a:r>
              <a:rPr lang="ru-RU" sz="1200" smtClean="0">
                <a:solidFill>
                  <a:srgbClr val="7BFFB7"/>
                </a:solidFill>
                <a:latin typeface="Montserrat"/>
                <a:ea typeface="Montserrat"/>
              </a:rPr>
              <a:t>20</a:t>
            </a:r>
            <a:r>
              <a:rPr lang="en-US" sz="1200" b="0" u="none" strike="noStrike" smtClean="0">
                <a:solidFill>
                  <a:srgbClr val="7BFFB7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1200" b="0" u="none" strike="noStrike" dirty="0" err="1">
                <a:solidFill>
                  <a:srgbClr val="7BFFB7"/>
                </a:solidFill>
                <a:uFillTx/>
                <a:latin typeface="Montserrat"/>
                <a:ea typeface="Montserrat"/>
              </a:rPr>
              <a:t>практикантов</a:t>
            </a:r>
            <a:endParaRPr lang="ru-RU" sz="12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31520" y="2377440"/>
            <a:ext cx="66747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Фокус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автоматизация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ускорение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процессов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качество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документации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оптимизация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ресурсов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Инфраструктура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выделенные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VM Ubuntu 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2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4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.04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корпоративные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сервисы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доступ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к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репозиториям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Цель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подготовить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тестовый </a:t>
            </a:r>
            <a:r>
              <a:rPr lang="ru-RU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протатип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772400" y="1828800"/>
            <a:ext cx="3931560" cy="3474360"/>
          </a:xfrm>
          <a:prstGeom prst="roundRect">
            <a:avLst>
              <a:gd name="adj" fmla="val 16667"/>
            </a:avLst>
          </a:prstGeom>
          <a:solidFill>
            <a:srgbClr val="0F243C"/>
          </a:solidFill>
          <a:ln w="1524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8046720" y="19202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Миссия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8229600" y="2560320"/>
            <a:ext cx="32000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3 прототипа за 8 недель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Единая методология Agile/Scrum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Готовность к пилотному внедрению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45720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64008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Команды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265176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283464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Инфраструктура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484632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502920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Цели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Общая структура программы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731520" y="201168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3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кросс-функциональные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команды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6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человек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Team Lead, Backend, Frontend, Full-stack, DevOps, QA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Уровень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участников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студенты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технических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вузов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endParaRPr lang="ru-RU" sz="2000" b="0" u="none" strike="noStrike" dirty="0" smtClean="0">
              <a:solidFill>
                <a:srgbClr val="DDEEE6"/>
              </a:solidFill>
              <a:uFillTx/>
              <a:latin typeface="Montserrat"/>
              <a:ea typeface="Montserrat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Фокусы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оптимизации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автоматизация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ускорение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операций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качество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документации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ресурсная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эффективность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45720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Team Model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Роли в каждой команде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731520" y="201168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Team Lead — архитектура решения, связь с заказчиком, защита спринтов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Backend — API, базы данных, интеграции, безопасность данных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Frontend — интерфейсы, интерактивные панели, UX документопотоков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Full-stack — сквозные фичи, синхронизация фронта и бэка, быстрые POC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DevOps — CI/CD, контейнеризация, мониторинг и надежность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QA — тестирование, документация, автоматизация проверок качества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45720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Text 5"/>
          <p:cNvSpPr/>
          <p:nvPr/>
        </p:nvSpPr>
        <p:spPr>
          <a:xfrm>
            <a:off x="64008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AI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265176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283464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CAD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84632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502920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Quality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Проект</a:t>
            </a:r>
            <a:r>
              <a:rPr lang="en-US" sz="3400" b="1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 1 · </a:t>
            </a:r>
            <a:r>
              <a:rPr lang="en-US" sz="3400" b="1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Автоматизированный</a:t>
            </a:r>
            <a:r>
              <a:rPr lang="en-US" sz="3400" b="1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3400" b="1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нормоконтроль</a:t>
            </a:r>
            <a:endParaRPr lang="ru-RU" sz="3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457200" y="100620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7BFFB7"/>
                </a:solidFill>
                <a:uFillTx/>
                <a:latin typeface="Montserrat"/>
                <a:ea typeface="Montserrat"/>
              </a:rPr>
              <a:t>Python · </a:t>
            </a:r>
            <a:r>
              <a:rPr lang="en-US" sz="1200" b="0" u="none" strike="noStrike" dirty="0" err="1">
                <a:solidFill>
                  <a:srgbClr val="7BFFB7"/>
                </a:solidFill>
                <a:uFillTx/>
                <a:latin typeface="Montserrat"/>
                <a:ea typeface="Montserrat"/>
              </a:rPr>
              <a:t>FastAPI</a:t>
            </a:r>
            <a:r>
              <a:rPr lang="en-US" sz="1200" b="0" u="none" strike="noStrike" dirty="0">
                <a:solidFill>
                  <a:srgbClr val="7BFFB7"/>
                </a:solidFill>
                <a:uFillTx/>
                <a:latin typeface="Montserrat"/>
                <a:ea typeface="Montserrat"/>
              </a:rPr>
              <a:t> · React · PostgreSQL · </a:t>
            </a:r>
            <a:r>
              <a:rPr lang="en-US" sz="1200" b="0" u="none" strike="noStrike" dirty="0" err="1">
                <a:solidFill>
                  <a:srgbClr val="7BFFB7"/>
                </a:solidFill>
                <a:uFillTx/>
                <a:latin typeface="Montserrat"/>
                <a:ea typeface="Montserrat"/>
              </a:rPr>
              <a:t>Redis</a:t>
            </a:r>
            <a:r>
              <a:rPr lang="en-US" sz="1200" b="0" u="none" strike="noStrike" dirty="0">
                <a:solidFill>
                  <a:srgbClr val="7BFFB7"/>
                </a:solidFill>
                <a:uFillTx/>
                <a:latin typeface="Montserrat"/>
                <a:ea typeface="Montserrat"/>
              </a:rPr>
              <a:t> · Celery · Docker</a:t>
            </a:r>
            <a:endParaRPr lang="ru-RU" sz="12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731520" y="2377440"/>
            <a:ext cx="66747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Интеллектуальная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загрузка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PDF/DOCX/DWG/XLSX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многоуровневый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нормоконтроль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ru-RU" sz="2000" dirty="0" smtClean="0">
                <a:solidFill>
                  <a:srgbClr val="DDEEE6"/>
                </a:solidFill>
                <a:latin typeface="Montserrat"/>
                <a:ea typeface="Montserrat"/>
              </a:rPr>
              <a:t>Проработка возможности будущей </a:t>
            </a:r>
            <a:r>
              <a:rPr lang="ru-RU" sz="2000" dirty="0">
                <a:solidFill>
                  <a:srgbClr val="DDEEE6"/>
                </a:solidFill>
                <a:latin typeface="Montserrat"/>
                <a:ea typeface="Montserrat"/>
              </a:rPr>
              <a:t>и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нтеграции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с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БД корпоративного софта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7772400" y="1828800"/>
            <a:ext cx="3931560" cy="3474360"/>
          </a:xfrm>
          <a:prstGeom prst="roundRect">
            <a:avLst>
              <a:gd name="adj" fmla="val 16667"/>
            </a:avLst>
          </a:prstGeom>
          <a:solidFill>
            <a:srgbClr val="0F243C"/>
          </a:solidFill>
          <a:ln w="1524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8046720" y="19202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KPI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8229600" y="2560320"/>
            <a:ext cx="32000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3 – 5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дней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 → </a:t>
            </a: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2 – 4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часа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95%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нарушений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 vs 70%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– 60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%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возвратов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45720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64008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Resources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265176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283464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Predictive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Проект 2 · Платформа управления ресурсами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457200" y="9601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Django · REST · Angular · MySQL · Docker · Nginx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731520" y="2377440"/>
            <a:ext cx="66747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Gantt-панели фиксируют загрузку сотрудников и выявляют узкие места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Автораспределение задач по компетенциям и прогноз сроков проектов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Интеграция с системами учета рабочего времени и корпоративными API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7772400" y="1828800"/>
            <a:ext cx="3931560" cy="3474360"/>
          </a:xfrm>
          <a:prstGeom prst="roundRect">
            <a:avLst>
              <a:gd name="adj" fmla="val 16667"/>
            </a:avLst>
          </a:prstGeom>
          <a:solidFill>
            <a:srgbClr val="0F243C"/>
          </a:solidFill>
          <a:ln w="1524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8046720" y="19202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KPI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7915835" y="2560320"/>
            <a:ext cx="4043083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+ 25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%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утилизации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– 40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%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времени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планирования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– 30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%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перегрузки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45720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64008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Docs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265176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283464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Search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Проект 3 · Контроль версий и шаблонов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457200" y="9601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Node.js · Express · React · MongoDB · Elasticsearch · MinIO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731520" y="2377440"/>
            <a:ext cx="66747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Централизованная библиотека шаблонов и стандартов с управлением версиями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Умный поиск и визуальное сравнение версий повышают точность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Автоматическая проверка соответствия корпоративным стандартам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7772400" y="1828800"/>
            <a:ext cx="3931560" cy="3474360"/>
          </a:xfrm>
          <a:prstGeom prst="roundRect">
            <a:avLst>
              <a:gd name="adj" fmla="val 16667"/>
            </a:avLst>
          </a:prstGeom>
          <a:solidFill>
            <a:srgbClr val="0F243C"/>
          </a:solidFill>
          <a:ln w="1524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8046720" y="19202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KPI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8013375" y="2560320"/>
            <a:ext cx="3690585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– 60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%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времени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поиска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– 45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%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ошибок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 dirty="0" smtClean="0">
                <a:solidFill>
                  <a:srgbClr val="FFFFFF"/>
                </a:solidFill>
                <a:uFillTx/>
                <a:latin typeface="Montserrat"/>
                <a:ea typeface="Montserrat"/>
              </a:rPr>
              <a:t>+ 35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%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скорости</a:t>
            </a:r>
            <a:r>
              <a:rPr lang="en-US" sz="1800" b="0" u="none" strike="noStrike" dirty="0">
                <a:solidFill>
                  <a:srgbClr val="FFFFFF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1800" b="0" u="none" strike="noStrike" dirty="0" err="1">
                <a:solidFill>
                  <a:srgbClr val="FFFFFF"/>
                </a:solidFill>
                <a:uFillTx/>
                <a:latin typeface="Montserrat"/>
                <a:ea typeface="Montserrat"/>
              </a:rPr>
              <a:t>подготовки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Неделя 1 · Подготовка и введение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Настройка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VM Ubuntu,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установка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Git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Docker, Python, Node.js, СУБД, IDE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Клонирование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репозиториев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запуск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docker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-compose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окружений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Практикум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DevOps: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контейнеризация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базовые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пайплайны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Недели 2–3 · Прототипирование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Команда 1: модуль загрузки и парсинга документов, база нормативов, UI загрузки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Команда 2: схема БД сотрудников/проектов, API управления ресурсами, базовый интерфейс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Команда 3: хранилище шаблонов, модуль версионирования, прототип поиска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DDEEE6"/>
                </a:solidFill>
                <a:uFillTx/>
                <a:latin typeface="Montserrat"/>
                <a:ea typeface="Montserrat"/>
              </a:rPr>
              <a:t>Цель этапа: готовые MVP и проверка технической осуществимости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Недели 4–5 · Основная разработка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Команда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1: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многоуровневая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проверка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отчеты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нарушениям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Команда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2: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оптимизация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распределения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визуализация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Gantt,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прогноз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сроков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Команда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3: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Elasticsearch-поиск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контроль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версий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Параллельно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ведется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автоматизация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тестов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Недели 6–7 · Интеграция и оптимизация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Сборка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сквозного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решения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обмен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данными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между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тремя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системами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Нагрузочные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тесты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профилирование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устранение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критических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багов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Подготовка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к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финальной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демонстрации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сценарии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данные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мониторинг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Неделя 8 · Финал и презентация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Финальное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тестирование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приемка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функционала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Документация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техописания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гайды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внедрению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инструкции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пользователей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Создание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демо-материалов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презентации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результатов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Защита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проектов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перед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Заместителем генерального директора по </a:t>
            </a:r>
            <a:r>
              <a:rPr lang="ru-RU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цифровизации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информационным технологиям, Блок по Ц и ИТ 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Повседневные и еженедельные активности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Ежедневно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с 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09:00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до 18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:00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онлайн в 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telegram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Ежене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дельно: пятница с 11:00 до 12:00</a:t>
            </a:r>
            <a:endParaRPr lang="ru-RU" sz="2000" b="0" u="none" strike="noStrike" dirty="0" smtClean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6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Серия технических воркшопов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Неделя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1: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Git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процессы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code review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Неделя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2: 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Docker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, к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онтейнеризация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ru-RU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митапы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от ЗГД по </a:t>
            </a:r>
            <a:r>
              <a:rPr lang="ru-RU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цифровизации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Неделя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3: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Производительность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оптимизация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Неделя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4: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Безопасность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веб-приложений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ru-RU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митапы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от куратора 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Неделя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5: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Тестирование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QA-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практики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Неделя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6: Мониторинг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логирование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Неделя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7: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Подготовка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к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тестовому запуску и </a:t>
            </a:r>
            <a:r>
              <a:rPr lang="ru-RU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митапы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от топа цифровых продуктов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45720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64008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7BFFB7"/>
                </a:solidFill>
                <a:uFillTx/>
                <a:latin typeface="Montserrat"/>
                <a:ea typeface="Montserrat"/>
              </a:rPr>
              <a:t>Ubuntu </a:t>
            </a:r>
            <a:r>
              <a:rPr lang="en-US" sz="1400" b="0" u="none" strike="noStrike" dirty="0" smtClean="0">
                <a:solidFill>
                  <a:srgbClr val="7BFFB7"/>
                </a:solidFill>
                <a:uFillTx/>
                <a:latin typeface="Montserrat"/>
                <a:ea typeface="Montserrat"/>
              </a:rPr>
              <a:t>24.04</a:t>
            </a:r>
            <a:endParaRPr lang="ru-RU" sz="1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2651760" y="150876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9233A"/>
          </a:solidFill>
          <a:ln w="1016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2834640" y="160020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DevOps stack</a:t>
            </a:r>
            <a:endParaRPr lang="ru-RU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Инфраструктура и инструменты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731520" y="2011680"/>
            <a:ext cx="66747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VM: 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16 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GB RAM, 4 CPU, </a:t>
            </a:r>
            <a:r>
              <a:rPr lang="en-US" sz="2000" dirty="0" smtClean="0">
                <a:solidFill>
                  <a:srgbClr val="DDEEE6"/>
                </a:solidFill>
                <a:latin typeface="Montserrat"/>
                <a:ea typeface="Montserrat"/>
              </a:rPr>
              <a:t>200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GB 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SSD</a:t>
            </a: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Базовый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стек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git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curl,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docker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python3,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nodejs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клиенты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PostgreSQL/MySQL/MongoDB,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nginx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redis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-tools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Утилиты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jq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yamllint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shellcheck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tree,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silversearcher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-ag, net-tools,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dnsutils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Автоматизированные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setup-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скрипты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обеспечивают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идентичность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окружений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7772400" y="1828800"/>
            <a:ext cx="3931560" cy="3474360"/>
          </a:xfrm>
          <a:prstGeom prst="roundRect">
            <a:avLst>
              <a:gd name="adj" fmla="val 16667"/>
            </a:avLst>
          </a:prstGeom>
          <a:solidFill>
            <a:srgbClr val="0F243C"/>
          </a:solidFill>
          <a:ln w="1524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8046720" y="192024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7BFFB7"/>
                </a:solidFill>
                <a:uFillTx/>
                <a:latin typeface="Montserrat"/>
                <a:ea typeface="Montserrat"/>
              </a:rPr>
              <a:t>DevOps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8229600" y="2560320"/>
            <a:ext cx="32000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docker-compose everywhere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CI/CD hooks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Monitoring-ready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Критерии оценки проектов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Техническая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реализация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— 40%: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архитектура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производительность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надежность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требования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Бизнес-ценность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— 30%: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практическая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польза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измеримая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оптимизация</a:t>
            </a:r>
            <a:endParaRPr lang="ru-RU" sz="2000" b="0" u="none" strike="noStrike" dirty="0" smtClean="0">
              <a:solidFill>
                <a:srgbClr val="DDEEE6"/>
              </a:solidFill>
              <a:uFillTx/>
              <a:latin typeface="Montserrat"/>
              <a:ea typeface="Montserrat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Командная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работа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— 20%: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коммуникация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распределение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ролей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участие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в code review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ru-RU" sz="2000" dirty="0">
                <a:solidFill>
                  <a:srgbClr val="DDEEE6"/>
                </a:solidFill>
                <a:latin typeface="Montserrat"/>
                <a:ea typeface="Montserrat"/>
              </a:rPr>
              <a:t>П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резентация</a:t>
            </a:r>
            <a:r>
              <a:rPr lang="ru-RU" sz="2000" dirty="0" smtClean="0">
                <a:solidFill>
                  <a:srgbClr val="DDEEE6"/>
                </a:solidFill>
                <a:latin typeface="Montserrat"/>
                <a:ea typeface="Montserrat"/>
              </a:rPr>
              <a:t>/документация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— 10%: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полнота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техдоков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качество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финального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питча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1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Ожидаемые результаты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Институт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получает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3 </a:t>
            </a:r>
            <a:r>
              <a:rPr lang="ru-RU" sz="2000" dirty="0" smtClean="0">
                <a:solidFill>
                  <a:srgbClr val="DDEEE6"/>
                </a:solidFill>
                <a:latin typeface="Montserrat"/>
                <a:ea typeface="Montserrat"/>
              </a:rPr>
              <a:t>тестовых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прототипа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мини презентацию функционала и </a:t>
            </a:r>
            <a:r>
              <a:rPr lang="ru-RU" sz="2000" dirty="0" smtClean="0">
                <a:solidFill>
                  <a:srgbClr val="DDEEE6"/>
                </a:solidFill>
                <a:latin typeface="Montserrat"/>
                <a:ea typeface="Montserrat"/>
              </a:rPr>
              <a:t>предложения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развитию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Студенты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получают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практический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опыт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,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прокачку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навыков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шанс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трудоустройства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Ключевые метрики успеха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Все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три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проекта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достигают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ru-RU" sz="2000" dirty="0" smtClean="0">
                <a:solidFill>
                  <a:srgbClr val="DDEEE6"/>
                </a:solidFill>
                <a:latin typeface="Montserrat"/>
                <a:ea typeface="Montserrat"/>
              </a:rPr>
              <a:t>тестового запуска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Фиксируется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рост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компетенций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студентов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за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2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месяца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Руководство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подтверждает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практическую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ценность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готовность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к </a:t>
            </a:r>
            <a:r>
              <a:rPr lang="ru-RU" sz="2000" dirty="0" smtClean="0">
                <a:solidFill>
                  <a:srgbClr val="DDEEE6"/>
                </a:solidFill>
                <a:latin typeface="Montserrat"/>
                <a:ea typeface="Montserrat"/>
              </a:rPr>
              <a:t>дальнейшей </a:t>
            </a:r>
            <a:r>
              <a:rPr lang="ru-RU" sz="2000" dirty="0" err="1" smtClean="0">
                <a:solidFill>
                  <a:srgbClr val="DDEEE6"/>
                </a:solidFill>
                <a:latin typeface="Montserrat"/>
                <a:ea typeface="Montserrat"/>
              </a:rPr>
              <a:t>дороботки</a:t>
            </a:r>
            <a:r>
              <a:rPr lang="ru-RU" sz="2000" dirty="0" smtClean="0">
                <a:solidFill>
                  <a:srgbClr val="DDEEE6"/>
                </a:solidFill>
                <a:latin typeface="Montserrat"/>
                <a:ea typeface="Montserrat"/>
              </a:rPr>
              <a:t> продуктов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 rot="1680000">
            <a:off x="7863840" y="-914040"/>
            <a:ext cx="6400440" cy="4571640"/>
          </a:xfrm>
          <a:prstGeom prst="rect">
            <a:avLst/>
          </a:prstGeom>
          <a:solidFill>
            <a:srgbClr val="10233D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-1188720" y="3931920"/>
            <a:ext cx="4754520" cy="4754520"/>
          </a:xfrm>
          <a:prstGeom prst="ellipse">
            <a:avLst/>
          </a:prstGeom>
          <a:solidFill>
            <a:srgbClr val="071427"/>
          </a:solidFill>
          <a:ln w="12700">
            <a:solidFill>
              <a:srgbClr val="0F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457200" y="1463040"/>
            <a:ext cx="4114800" cy="360"/>
          </a:xfrm>
          <a:prstGeom prst="line">
            <a:avLst/>
          </a:prstGeom>
          <a:ln w="12700">
            <a:solidFill>
              <a:srgbClr val="7BFFB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457200" y="3200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uFillTx/>
                <a:latin typeface="Montserrat"/>
                <a:ea typeface="Montserrat"/>
              </a:rPr>
              <a:t>Заключение и следующий шаг</a:t>
            </a:r>
            <a:endParaRPr lang="ru-RU" sz="3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731520" y="1371600"/>
            <a:ext cx="1033236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Календарь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практики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согласован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: 8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недель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интенсивной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проектной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работы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Необходимы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кураторы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от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института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и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подтвержденная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>
                <a:solidFill>
                  <a:srgbClr val="DDEEE6"/>
                </a:solidFill>
                <a:uFillTx/>
                <a:latin typeface="Montserrat"/>
                <a:ea typeface="Montserrat"/>
              </a:rPr>
              <a:t>инфраструктура</a:t>
            </a:r>
            <a:r>
              <a:rPr lang="en-US" sz="2000" b="0" u="none" strike="noStrike" dirty="0">
                <a:solidFill>
                  <a:srgbClr val="DDEEE6"/>
                </a:solidFill>
                <a:uFillTx/>
                <a:latin typeface="Montserrat"/>
                <a:ea typeface="Montserrat"/>
              </a:rPr>
              <a:t> VM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Запланироваy</a:t>
            </a:r>
            <a:r>
              <a:rPr lang="en-US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</a:t>
            </a:r>
            <a:r>
              <a:rPr lang="en-US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совмест</a:t>
            </a:r>
            <a:r>
              <a:rPr lang="ru-RU" sz="2000" b="0" u="none" strike="noStrike" dirty="0" err="1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ный</a:t>
            </a:r>
            <a:r>
              <a:rPr lang="ru-RU" sz="2000" b="0" u="none" strike="noStrike" dirty="0" smtClean="0">
                <a:solidFill>
                  <a:srgbClr val="DDEEE6"/>
                </a:solidFill>
                <a:uFillTx/>
                <a:latin typeface="Montserrat"/>
                <a:ea typeface="Montserrat"/>
              </a:rPr>
              <a:t> разбор наработанной компетенции за 8 недель и дальнейший отбор для трудоустройства</a:t>
            </a:r>
          </a:p>
          <a:p>
            <a:pPr marL="343080" indent="-343080" defTabSz="914400">
              <a:lnSpc>
                <a:spcPct val="120000"/>
              </a:lnSpc>
              <a:buClr>
                <a:srgbClr val="DDEEE6"/>
              </a:buClr>
              <a:buFont typeface="Symbol" charset="2"/>
              <a:buChar char=""/>
            </a:pP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848</Words>
  <Application>Microsoft Office PowerPoint</Application>
  <PresentationFormat>Произвольный</PresentationFormat>
  <Paragraphs>139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Calibri</vt:lpstr>
      <vt:lpstr>DejaVu Sans</vt:lpstr>
      <vt:lpstr>Montserrat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Савченко Артем Геннадьевич</cp:lastModifiedBy>
  <cp:revision>10</cp:revision>
  <dcterms:created xsi:type="dcterms:W3CDTF">2025-11-14T14:22:54Z</dcterms:created>
  <dcterms:modified xsi:type="dcterms:W3CDTF">2025-11-18T14:01:31Z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